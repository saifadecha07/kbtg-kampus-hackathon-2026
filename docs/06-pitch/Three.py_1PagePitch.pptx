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260000"/>
          </a:xfrm>
          <a:prstGeom prst="rect">
            <a:avLst/>
          </a:prstGeom>
          <a:gradFill rotWithShape="1">
            <a:gsLst>
              <a:gs pos="0">
                <a:srgbClr val="0B5C43"/>
              </a:gs>
              <a:gs pos="100000">
                <a:srgbClr val="12A27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98000"/>
            <a:ext cx="3600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Tahoma"/>
              </a:rPr>
              <a:t>Sapling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94000"/>
            <a:ext cx="396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D8F3E7"/>
                </a:solidFill>
                <a:latin typeface="Tahoma"/>
              </a:rPr>
              <a:t>ระบบจัดสรรเงินอัตโนมัติบน K PLUS สำหรับ First Jobbers กันบิลไว้ก่อน แบ่งเงินอัตโนมัติ ออมแบบมีวินัย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0000" y="251999"/>
            <a:ext cx="252000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D8F3E7"/>
                </a:solidFill>
                <a:latin typeface="Tahoma"/>
              </a:rPr>
              <a:t>ทีม: </a:t>
            </a:r>
            <a:r>
              <a:rPr sz="1000" b="1">
                <a:solidFill>
                  <a:srgbClr val="FFFFFF"/>
                </a:solidFill>
                <a:latin typeface="Tahoma"/>
              </a:rPr>
              <a:t>Three.py</a:t>
            </a:r>
          </a:p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D8F3E7"/>
                </a:solidFill>
                <a:latin typeface="Tahoma"/>
              </a:rPr>
              <a:t>Track 1 — Software Engineering &amp; Quality</a:t>
            </a:r>
          </a:p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D8F3E7"/>
                </a:solidFill>
                <a:latin typeface="Tahoma"/>
              </a:rPr>
              <a:t>KBTG Kampus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404000"/>
            <a:ext cx="648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0B5C43"/>
                </a:solidFill>
                <a:latin typeface="Tahoma"/>
              </a:rP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1627200"/>
            <a:ext cx="648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B2420"/>
                </a:solidFill>
                <a:latin typeface="Tahoma"/>
              </a:rPr>
              <a:t>First Jobbers ไทยจำนวนมากบริหารเงินเดือนไม่ทัน และมักตกเป็นเป้าของมิจฉาชีพทางการเงิน ปัญหานี้ไม่ใช่แค่ความรู้สึก แต่มีข้อมูลจากหลายแหล่งยืนยันตรงกัน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1969200"/>
            <a:ext cx="1539000" cy="864000"/>
          </a:xfrm>
          <a:prstGeom prst="roundRect">
            <a:avLst>
              <a:gd name="adj" fmla="val 8000"/>
            </a:avLst>
          </a:prstGeom>
          <a:solidFill>
            <a:srgbClr val="F2F8F5"/>
          </a:solidFill>
          <a:ln w="9525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0000" y="1969200"/>
            <a:ext cx="43200" cy="864000"/>
          </a:xfrm>
          <a:prstGeom prst="rect">
            <a:avLst/>
          </a:prstGeom>
          <a:solidFill>
            <a:srgbClr val="0E7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2023200"/>
            <a:ext cx="1395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0E7C5A"/>
                </a:solidFill>
                <a:latin typeface="Tahoma"/>
              </a:rPr>
              <a:t>63–64%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00" y="2239200"/>
            <a:ext cx="1395000" cy="41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80" b="0">
                <a:solidFill>
                  <a:srgbClr val="33403A"/>
                </a:solidFill>
                <a:latin typeface="Tahoma"/>
              </a:rPr>
              <a:t>Gen Z / Gen Y ไทย ใช้เงินเดือนหมดพอดีทุกเดือน (โลกเฉลี่ย 52%)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00" y="2671200"/>
            <a:ext cx="1395000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00" b="0">
                <a:solidFill>
                  <a:srgbClr val="5A6A5F"/>
                </a:solidFill>
                <a:latin typeface="Tahoma"/>
              </a:rPr>
              <a:t>Deloitte Global 2025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87000" y="1969200"/>
            <a:ext cx="1539000" cy="864000"/>
          </a:xfrm>
          <a:prstGeom prst="roundRect">
            <a:avLst>
              <a:gd name="adj" fmla="val 8000"/>
            </a:avLst>
          </a:prstGeom>
          <a:solidFill>
            <a:srgbClr val="F2F8F5"/>
          </a:solidFill>
          <a:ln w="9525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87000" y="1969200"/>
            <a:ext cx="43200" cy="864000"/>
          </a:xfrm>
          <a:prstGeom prst="rect">
            <a:avLst/>
          </a:prstGeom>
          <a:solidFill>
            <a:srgbClr val="0E7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77000" y="2023200"/>
            <a:ext cx="1395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0E7C5A"/>
                </a:solidFill>
                <a:latin typeface="Tahoma"/>
              </a:rPr>
              <a:t>12,956 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77000" y="2239200"/>
            <a:ext cx="1395000" cy="41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80" b="0">
                <a:solidFill>
                  <a:srgbClr val="33403A"/>
                </a:solidFill>
                <a:latin typeface="Tahoma"/>
              </a:rPr>
              <a:t>ความเสียหายเฉลี่ยจาก scam ต่อคน อายุ 21–30 คือกลุ่มเหยื่อหลัก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77000" y="2671200"/>
            <a:ext cx="1395000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00" b="0">
                <a:solidFill>
                  <a:srgbClr val="5A6A5F"/>
                </a:solidFill>
                <a:latin typeface="Tahoma"/>
              </a:rPr>
              <a:t>GASA / Nation Thailand 2025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34000" y="1969200"/>
            <a:ext cx="1539000" cy="864000"/>
          </a:xfrm>
          <a:prstGeom prst="roundRect">
            <a:avLst>
              <a:gd name="adj" fmla="val 8000"/>
            </a:avLst>
          </a:prstGeom>
          <a:solidFill>
            <a:srgbClr val="F2F8F5"/>
          </a:solidFill>
          <a:ln w="9525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34000" y="1969200"/>
            <a:ext cx="43200" cy="864000"/>
          </a:xfrm>
          <a:prstGeom prst="rect">
            <a:avLst/>
          </a:prstGeom>
          <a:solidFill>
            <a:srgbClr val="0E7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24000" y="2023200"/>
            <a:ext cx="1395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0E7C5A"/>
                </a:solidFill>
                <a:latin typeface="Tahoma"/>
              </a:rPr>
              <a:t>25.6%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24000" y="2239200"/>
            <a:ext cx="1395000" cy="41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80" b="0">
                <a:solidFill>
                  <a:srgbClr val="33403A"/>
                </a:solidFill>
                <a:latin typeface="Tahoma"/>
              </a:rPr>
              <a:t>บัณฑิตจบใหม่ไทยเริ่มต้นเงินเดือนช่วง 15,001–30,000 บาท สวนทางกับค่าครองชีพในเมือง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24000" y="2671200"/>
            <a:ext cx="1395000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00" b="0">
                <a:solidFill>
                  <a:srgbClr val="5A6A5F"/>
                </a:solidFill>
                <a:latin typeface="Tahoma"/>
              </a:rPr>
              <a:t>JobsDB Thailand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1000" y="1969200"/>
            <a:ext cx="1539000" cy="864000"/>
          </a:xfrm>
          <a:prstGeom prst="roundRect">
            <a:avLst>
              <a:gd name="adj" fmla="val 8000"/>
            </a:avLst>
          </a:prstGeom>
          <a:solidFill>
            <a:srgbClr val="F2F8F5"/>
          </a:solidFill>
          <a:ln w="9525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1000" y="1969200"/>
            <a:ext cx="43200" cy="864000"/>
          </a:xfrm>
          <a:prstGeom prst="rect">
            <a:avLst/>
          </a:prstGeom>
          <a:solidFill>
            <a:srgbClr val="0E7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1000" y="2023200"/>
            <a:ext cx="1395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0E7C5A"/>
                </a:solidFill>
                <a:latin typeface="Tahoma"/>
              </a:rPr>
              <a:t>70%+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1000" y="2239200"/>
            <a:ext cx="1395000" cy="41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80" b="0">
                <a:solidFill>
                  <a:srgbClr val="33403A"/>
                </a:solidFill>
                <a:latin typeface="Tahoma"/>
              </a:rPr>
              <a:t>คนไทยมีเงินสำรองฉุกเฉินไม่ถึง 3 เดือน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1000" y="2671200"/>
            <a:ext cx="1395000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00" b="0">
                <a:solidFill>
                  <a:srgbClr val="5A6A5F"/>
                </a:solidFill>
                <a:latin typeface="Tahoma"/>
              </a:rPr>
              <a:t>SCB EIC Q2/2024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000" y="2995200"/>
            <a:ext cx="648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0B5C43"/>
                </a:solidFill>
                <a:latin typeface="Tahoma"/>
              </a:rPr>
              <a:t>Proposed Solution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0000" y="3218400"/>
            <a:ext cx="648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5A6A5F"/>
                </a:solidFill>
                <a:latin typeface="Tahoma"/>
              </a:rPr>
              <a:t>Sapling ต่อยอดจาก ePocket ที่ K PLUS มีอยู่แล้ว โดยจัดเงินเป็นกระเป๋า 3 ใบ คือ เงินรายเดือน ใช้จ่ายรายวัน และนิรภัย ผ่านกลไก 3 ส่วนที่ทำงานร่วมกันโดยผู้ใช้ไม่ต้องโยกเงินเอง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0000" y="3416400"/>
            <a:ext cx="2088000" cy="1404000"/>
          </a:xfrm>
          <a:prstGeom prst="roundRect">
            <a:avLst>
              <a:gd name="adj" fmla="val 6000"/>
            </a:avLst>
          </a:prstGeom>
          <a:solidFill>
            <a:srgbClr val="FAFCFB"/>
          </a:solidFill>
          <a:ln w="9525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000" y="3488400"/>
            <a:ext cx="1908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B2420"/>
                </a:solidFill>
                <a:latin typeface="Tahoma"/>
              </a:rPr>
              <a:t>Auto-Split ตอนเงินเข้า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00" y="3686400"/>
            <a:ext cx="1908000" cy="10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60" b="0">
                <a:solidFill>
                  <a:srgbClr val="33403A"/>
                </a:solidFill>
                <a:latin typeface="Tahoma"/>
              </a:rPr>
              <a:t>เมื่อเงินเดือนเข้าบัญชี ระบบจะถามผู้ใช้ก่อนเสมอว่าต้องการแบ่งเงินตามแผนหรือไม่ แล้วกันเงินสำหรับบิลอัตโนมัติไว้ก่อน แบ่งส่วนออมเข้ากระเป๋านิรภัย และเก็บที่เหลือไว้ในบัญชีเงินรายเดือน หากตั้งให้จดจำผู้ส่ง รอบถัดไปจะทำงานอัตโนมัติทันที ใช้ได้ทั้งพนักงานประจำและฟรีแลนซ์ที่รายได้เข้าไม่ตรงงวด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36000" y="3416400"/>
            <a:ext cx="2088000" cy="1404000"/>
          </a:xfrm>
          <a:prstGeom prst="roundRect">
            <a:avLst>
              <a:gd name="adj" fmla="val 6000"/>
            </a:avLst>
          </a:prstGeom>
          <a:solidFill>
            <a:srgbClr val="FAFCFB"/>
          </a:solidFill>
          <a:ln w="9525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26000" y="3488400"/>
            <a:ext cx="1908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B2420"/>
                </a:solidFill>
                <a:latin typeface="Tahoma"/>
              </a:rPr>
              <a:t>Daily Auto-Refill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26000" y="3686400"/>
            <a:ext cx="1908000" cy="10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60" b="0">
                <a:solidFill>
                  <a:srgbClr val="33403A"/>
                </a:solidFill>
                <a:latin typeface="Tahoma"/>
              </a:rPr>
              <a:t>ทุกเที่ยงคืน ระบบจะเติมกระเป๋าใช้จ่ายรายวันให้ครบตามเป้าที่ตั้งไว้ โดยดึงจากบัญชีเงินรายเดือน หากใช้เกินเป้าในวันนั้น ระบบจะไม่ปิดกั้นการใช้จ่าย แต่ดึงส่วนที่ขาดจากบัญชีเงินรายเดือนมาเติมให้ทันที พร้อมแจ้งเตือนยอดคงเหลือ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32000" y="3416400"/>
            <a:ext cx="2088000" cy="1404000"/>
          </a:xfrm>
          <a:prstGeom prst="roundRect">
            <a:avLst>
              <a:gd name="adj" fmla="val 6000"/>
            </a:avLst>
          </a:prstGeom>
          <a:solidFill>
            <a:srgbClr val="FAFCFB"/>
          </a:solidFill>
          <a:ln w="9525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2000" y="3488400"/>
            <a:ext cx="1908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B2420"/>
                </a:solidFill>
                <a:latin typeface="Tahoma"/>
              </a:rPr>
              <a:t>กระเป๋านิรภัย (Vault)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2000" y="3686400"/>
            <a:ext cx="1908000" cy="10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60" b="0">
                <a:solidFill>
                  <a:srgbClr val="33403A"/>
                </a:solidFill>
                <a:latin typeface="Tahoma"/>
              </a:rPr>
              <a:t>เงินในกระเป๋านี้จะถอนออกไม่ได้ทันที ต้องรอผ่านช่วงเวลาที่กำหนดไว้ก่อน แล้วระบบจะปล่อยเงินให้อัตโนมัติ แนวคิดนี้อ้างอิงจากงานวิจัยด้าน commitment device (Ashraf, Karlan &amp; Yin, QJE 2006) ที่ยืนยันว่าผู้ใช้ยอมรับกลไกลักษณะนี้ได้จริงแม้ไม่มีผลตอบแทนพิเศษ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0000" y="4910400"/>
            <a:ext cx="6480000" cy="468000"/>
          </a:xfrm>
          <a:prstGeom prst="roundRect">
            <a:avLst>
              <a:gd name="adj" fmla="val 12000"/>
            </a:avLst>
          </a:prstGeom>
          <a:solidFill>
            <a:srgbClr val="F2F8F5"/>
          </a:solidFill>
          <a:ln w="9525">
            <a:solidFill>
              <a:srgbClr val="B9D8C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8000" y="4964400"/>
            <a:ext cx="6264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60" b="1">
                <a:solidFill>
                  <a:srgbClr val="0B5C43"/>
                </a:solidFill>
                <a:latin typeface="Tahoma"/>
              </a:rPr>
              <a:t>จุดเล็กๆ ที่ใส่ใจ: </a:t>
            </a:r>
            <a:r>
              <a:rPr sz="860" b="0">
                <a:solidFill>
                  <a:srgbClr val="33403A"/>
                </a:solidFill>
                <a:latin typeface="Tahoma"/>
              </a:rPr>
              <a:t>หน้าจอกระเป๋านิรภัยมีต้นไม้ที่โตขึ้นเป็นระยะตามจำนวนรอบที่ออมต่อเนื่อง ไม่ใช่ยอดเงิน คนเงินเดือนน้อยจึงโตได้เท่าคนเงินเดือนมาก และถอนเงินก็ไม่ทำให้ต้นไม้ตาย เป็นแรงจูงใจง่ายๆ ให้อยากกลับมาออมสม่ำเสมอ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0000" y="5522400"/>
            <a:ext cx="315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0B5C43"/>
                </a:solidFill>
                <a:latin typeface="Tahoma"/>
              </a:rPr>
              <a:t>Target Users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0000" y="5745600"/>
            <a:ext cx="3150000" cy="14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30" b="0">
                <a:solidFill>
                  <a:srgbClr val="1B2420"/>
                </a:solidFill>
                <a:latin typeface="Tahoma"/>
              </a:rPr>
              <a:t>ผู้ใช้ K PLUS อายุ 22–30 ปี กลุ่ม First Jobbers ที่รายได้ปานกลางถึงจำกัด เช่น พนักงานออฟฟิศเงินเดือน 22,500 บาทที่เข้าตรงเวลาทุกเดือน หรือฟรีแลนซ์ที่ลูกค้าโอนเงินไม่ตรงงวด คนกลุ่มนี้มีรายรับแต่จัดสรรเงินเองไม่ทัน โดยเฉพาะกลุ่มที่เช่าบ้านหรือคอนโดในเมืองซึ่งค่าครองชีพสูงเมื่อเทียบกับรายได้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70000" y="5522400"/>
            <a:ext cx="315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0B5C43"/>
                </a:solidFill>
                <a:latin typeface="Tahoma"/>
              </a:rPr>
              <a:t>Track Perspective — Track 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70000" y="5745600"/>
            <a:ext cx="315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30" b="0">
                <a:solidFill>
                  <a:srgbClr val="1B2420"/>
                </a:solidFill>
                <a:latin typeface="Tahoma"/>
              </a:rPr>
              <a:t>ด้านการพัฒนา ออกแบบ rule engine แยกเป็นโมดูลที่ทดสอบง่าย ให้สถานะรอถอนเงินอ้างอิงจากเซิร์ฟเวอร์เท่านั้น และบันทึกทุกรายการผ่าน ledger ที่เขียนทางเดียวเพื่อกันข้อมูลผิดเพี้ยน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70000" y="6256800"/>
            <a:ext cx="315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30" b="0">
                <a:solidFill>
                  <a:srgbClr val="1B2420"/>
                </a:solidFill>
                <a:latin typeface="Tahoma"/>
              </a:rPr>
              <a:t>ด้านการทดสอบ ใช้ property test สุ่มธุรกรรมกว่าหมื่นรายการยืนยันว่ายอดเงินทุกบัญชีถูกต้องเสมอ ร่วมกับ unit และ integration test ครอบคลุมกรณีย่อยกว่า 50 จุด และทดสอบ idempotency กับ concurrency โดยเฉพาะ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70000" y="6768000"/>
            <a:ext cx="315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30" b="0">
                <a:solidFill>
                  <a:srgbClr val="1B2420"/>
                </a:solidFill>
                <a:latin typeface="Tahoma"/>
              </a:rPr>
              <a:t>ด้านการรับประกันคุณภาพ วางแผนทดสอบการใช้งานจริงกับผู้ใช้ 5–8 คนตาม protocol ที่กำหนดไว้ล่วงหน้า พร้อม checklist ตามหลัก PDPA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0000" y="7646400"/>
            <a:ext cx="648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0B5C43"/>
                </a:solidFill>
                <a:latin typeface="Tahoma"/>
              </a:rPr>
              <a:t>Value Proposition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0000" y="7869600"/>
            <a:ext cx="3150000" cy="972000"/>
          </a:xfrm>
          <a:prstGeom prst="roundRect">
            <a:avLst>
              <a:gd name="adj" fmla="val 8000"/>
            </a:avLst>
          </a:prstGeom>
          <a:solidFill>
            <a:srgbClr val="F2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8000" y="7941600"/>
            <a:ext cx="2934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0B5C43"/>
                </a:solidFill>
                <a:latin typeface="Tahoma"/>
              </a:rPr>
              <a:t>ผู้ใช้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8000" y="8139600"/>
            <a:ext cx="2934000" cy="6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880" b="0">
                <a:solidFill>
                  <a:srgbClr val="33403A"/>
                </a:solidFill>
                <a:latin typeface="Tahoma"/>
              </a:rPr>
              <a:t>ผู้ใช้ไม่ต้องแบ่งเงินเอง เห็นเงินออมของตัวเองเติบโตขึ้นอย่างเป็นระบบ และมีเวลาคิดทบทวนมากขึ้นก่อนจะใช้เงินก้อนที่ออมไว้ ซึ่งในกรณีที่กำลังจะโอนเงินออมให้มิจฉาชีพโดยไม่ทันคิด ช่วงเวลารอนี้อาจช่วยลดความเสียหายได้บ้าง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870000" y="7869600"/>
            <a:ext cx="3150000" cy="972000"/>
          </a:xfrm>
          <a:prstGeom prst="roundRect">
            <a:avLst>
              <a:gd name="adj" fmla="val 8000"/>
            </a:avLst>
          </a:prstGeom>
          <a:solidFill>
            <a:srgbClr val="F2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978000" y="7941600"/>
            <a:ext cx="2934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0B5C43"/>
                </a:solidFill>
                <a:latin typeface="Tahoma"/>
              </a:rPr>
              <a:t>K PLUS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78000" y="8139600"/>
            <a:ext cx="2934000" cy="6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880" b="0">
                <a:solidFill>
                  <a:srgbClr val="33403A"/>
                </a:solidFill>
                <a:latin typeface="Tahoma"/>
              </a:rPr>
              <a:t>ฟีเจอร์นี้ช่วยเพิ่มความถี่ในการเปิดใช้แอป เปิดโอกาสต่อยอดผลิตภัณฑ์ออมทรัพย์จากพฤติกรรมผู้ใช้จริง และสร้างความแตกต่างที่ชัดเจนจาก Cloud Pocket ของ MAKE by KBank และ Lock Account เดิมของ K PLUS ซึ่งยังไม่มีกลไกปลดล็อกอัตโนมัติในระดับกระเป๋าย่อยแบบนี้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0000" y="8967599"/>
            <a:ext cx="6480000" cy="12700"/>
          </a:xfrm>
          <a:prstGeom prst="rect">
            <a:avLst/>
          </a:prstGeom>
          <a:solidFill>
            <a:srgbClr val="DC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0000" y="9021599"/>
            <a:ext cx="396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60" b="0">
                <a:solidFill>
                  <a:srgbClr val="5A6A5F"/>
                </a:solidFill>
                <a:latin typeface="Tahoma"/>
              </a:rPr>
              <a:t>ตัวเลขทุกตัวมี source อ้างอิงตรวจสอบได้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60000" y="9021599"/>
            <a:ext cx="216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60" b="0">
                <a:solidFill>
                  <a:srgbClr val="5A6A5F"/>
                </a:solidFill>
                <a:latin typeface="Tahoma"/>
              </a:rPr>
              <a:t>Three.py_1PagePitch.pdf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9219599"/>
            <a:ext cx="7560000" cy="792000"/>
          </a:xfrm>
          <a:prstGeom prst="rect">
            <a:avLst/>
          </a:prstGeom>
          <a:gradFill rotWithShape="1">
            <a:gsLst>
              <a:gs pos="0">
                <a:srgbClr val="0B5C43"/>
              </a:gs>
              <a:gs pos="100000">
                <a:srgbClr val="12A27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0000" y="9298799"/>
            <a:ext cx="68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D8F3E7"/>
                </a:solidFill>
                <a:latin typeface="Tahoma"/>
              </a:rPr>
              <a:t>ทุกการตัดสินใจ ทุกข้อบกพร่องที่ทีมตรวจเจอและแก้ไข รวมถึงแผนการทดสอบทั้งหมด บันทึกไว้ที่ repo นี้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10000" y="9525599"/>
            <a:ext cx="5940000" cy="306000"/>
          </a:xfrm>
          <a:prstGeom prst="roundRect">
            <a:avLst>
              <a:gd name="adj" fmla="val 35000"/>
            </a:avLst>
          </a:prstGeom>
          <a:solidFill>
            <a:srgbClr val="148A66"/>
          </a:solidFill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0000" y="9525599"/>
            <a:ext cx="5940000" cy="3060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Tahoma"/>
              </a:rPr>
              <a:t>github.com/saifadecha07/KBTG-Kampus-Hackathon-2026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